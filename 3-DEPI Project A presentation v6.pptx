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62" r:id="rId2"/>
    <p:sldId id="268" r:id="rId3"/>
    <p:sldId id="269" r:id="rId4"/>
    <p:sldId id="270" r:id="rId5"/>
    <p:sldId id="271" r:id="rId6"/>
    <p:sldId id="272" r:id="rId7"/>
    <p:sldId id="273" r:id="rId8"/>
    <p:sldId id="266" r:id="rId9"/>
    <p:sldId id="274" r:id="rId10"/>
    <p:sldId id="276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jOmBtk5DbvnkierGKxpb4ZbKw0W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customschemas.google.com/relationships/presentationmetadata" Target="metadata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3F30DE6-E5BA-40C7-A5C6-A15FC4D658F3}" type="datetime1">
              <a:rPr lang="en-US" smtClean="0"/>
              <a:t>12-May-26</a:t>
            </a:fld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Sales analytics &amp; insights</a:t>
            </a:r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31469C1-A209-46BF-BE5A-3F692C7DE5D1}" type="datetime1">
              <a:rPr lang="en-US" smtClean="0"/>
              <a:t>12-May-26</a:t>
            </a:fld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Sales analytics &amp; insights</a:t>
            </a:r>
            <a:endParaRPr/>
          </a:p>
        </p:txBody>
      </p:sp>
      <p:pic>
        <p:nvPicPr>
          <p:cNvPr id="40" name="Google Shape;40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44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6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9EC5B5C-BD24-458A-A440-A87352BC59AC}" type="datetime1">
              <a:rPr lang="en-US" smtClean="0"/>
              <a:t>12-May-26</a:t>
            </a:fld>
            <a:endParaRPr/>
          </a:p>
        </p:txBody>
      </p:sp>
      <p:sp>
        <p:nvSpPr>
          <p:cNvPr id="49" name="Google Shape;49;p18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Sales analytics &amp; insights</a:t>
            </a:r>
            <a:endParaRPr/>
          </a:p>
        </p:txBody>
      </p:sp>
      <p:pic>
        <p:nvPicPr>
          <p:cNvPr id="51" name="Google Shape;51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8"/>
          <p:cNvSpPr/>
          <p:nvPr/>
        </p:nvSpPr>
        <p:spPr>
          <a:xfrm>
            <a:off x="10933155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53" name="Google Shape;5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BEC433F7-670B-4DFC-86D3-DB5ABF3EFE20}" type="datetime1">
              <a:rPr lang="en-US" smtClean="0"/>
              <a:t>12-May-26</a:t>
            </a:fld>
            <a:endParaRPr/>
          </a:p>
        </p:txBody>
      </p:sp>
      <p:sp>
        <p:nvSpPr>
          <p:cNvPr id="59" name="Google Shape;59;p19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Sales analytics &amp; insights</a:t>
            </a:r>
            <a:endParaRPr/>
          </a:p>
        </p:txBody>
      </p:sp>
      <p:sp>
        <p:nvSpPr>
          <p:cNvPr id="60" name="Google Shape;60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FC94C11-BD32-4F87-9878-E54432088CDA}" type="datetime1">
              <a:rPr lang="en-US" smtClean="0"/>
              <a:t>12-May-26</a:t>
            </a:fld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Sales analytics &amp; insights</a:t>
            </a:r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D48622E2-7E57-421B-891F-610486F69E11}" type="datetime1">
              <a:rPr lang="en-US" smtClean="0"/>
              <a:t>12-May-26</a:t>
            </a:fld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Sales analytics &amp; insights</a:t>
            </a:r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7AFB2E3-BE66-4255-998D-496CE72FD400}" type="datetime1">
              <a:rPr lang="en-US" smtClean="0"/>
              <a:t>12-May-26</a:t>
            </a:fld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Sales analytics &amp; insights</a:t>
            </a:r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E730538-2798-44F2-B7B9-37957C4C2831}" type="datetime1">
              <a:rPr lang="en-US" smtClean="0"/>
              <a:t>12-May-26</a:t>
            </a:fld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Sales analytics &amp; insights</a:t>
            </a:r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D87EE0B-758A-4685-9F7E-B3C5EECA66AB}" type="datetime1">
              <a:rPr lang="en-US" smtClean="0"/>
              <a:t>12-May-26</a:t>
            </a:fld>
            <a:endParaRPr/>
          </a:p>
        </p:txBody>
      </p:sp>
      <p:sp>
        <p:nvSpPr>
          <p:cNvPr id="94" name="Google Shape;94;p24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Sales analytics &amp; insights</a:t>
            </a:r>
            <a:endParaRPr/>
          </a:p>
        </p:txBody>
      </p:sp>
      <p:sp>
        <p:nvSpPr>
          <p:cNvPr id="95" name="Google Shape;95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1B92783-DB79-4D01-B290-C8B04912288F}" type="datetime1">
              <a:rPr lang="en-US" smtClean="0"/>
              <a:t>12-May-26</a:t>
            </a:fld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Sales analytics &amp; insights</a:t>
            </a:r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3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3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711512" y="330213"/>
            <a:ext cx="1284576" cy="637759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3"/>
          <p:cNvSpPr/>
          <p:nvPr/>
        </p:nvSpPr>
        <p:spPr>
          <a:xfrm>
            <a:off x="838200" y="6338919"/>
            <a:ext cx="2743200" cy="382556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pic>
        <p:nvPicPr>
          <p:cNvPr id="13" name="Google Shape;13;p1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3317" y="0"/>
            <a:ext cx="1489765" cy="138663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3"/>
          <p:cNvSpPr/>
          <p:nvPr/>
        </p:nvSpPr>
        <p:spPr>
          <a:xfrm>
            <a:off x="10974189" y="6344015"/>
            <a:ext cx="466090" cy="431923"/>
          </a:xfrm>
          <a:custGeom>
            <a:avLst/>
            <a:gdLst/>
            <a:ahLst/>
            <a:cxnLst/>
            <a:rect l="l" t="t" r="r" b="b"/>
            <a:pathLst>
              <a:path w="1026026" h="189485" extrusionOk="0">
                <a:moveTo>
                  <a:pt x="0" y="0"/>
                </a:moveTo>
                <a:lnTo>
                  <a:pt x="1026026" y="0"/>
                </a:lnTo>
                <a:lnTo>
                  <a:pt x="1026026" y="189485"/>
                </a:lnTo>
                <a:lnTo>
                  <a:pt x="0" y="189485"/>
                </a:lnTo>
                <a:close/>
              </a:path>
            </a:pathLst>
          </a:custGeom>
          <a:solidFill>
            <a:srgbClr val="1869A6"/>
          </a:solidFill>
          <a:ln>
            <a:noFill/>
          </a:ln>
        </p:spPr>
      </p:sp>
      <p:sp>
        <p:nvSpPr>
          <p:cNvPr id="15" name="Google Shape;1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53483AFC-4556-4CF1-B31E-1D42806F434F}" type="datetime1">
              <a:rPr lang="en-US" smtClean="0"/>
              <a:t>12-May-26</a:t>
            </a:fld>
            <a:endParaRPr/>
          </a:p>
        </p:txBody>
      </p:sp>
      <p:sp>
        <p:nvSpPr>
          <p:cNvPr id="18" name="Google Shape;18;p13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Sales analytics &amp; insights</a:t>
            </a:r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emf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2.png"/><Relationship Id="rId4" Type="http://schemas.openxmlformats.org/officeDocument/2006/relationships/hyperlink" Target="https://app.powerbi.com/view?r=eyJrIjoiNjE3OWIxMTUtYjZkMC00MTljLTlkNzUtYzRlMDFhNWE1ZTdjIiwidCI6ImZmZGNkZDgyLTE4NDQtNGRlNi05ZTA1LTEzNWJjYjQ2ZTNiYyIsImMiOjh9&amp;pageName=904bdd3ec077b08e3e70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eterabosaif/Data-analysis-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>
            <a:spLocks noGrp="1"/>
          </p:cNvSpPr>
          <p:nvPr>
            <p:ph type="title"/>
          </p:nvPr>
        </p:nvSpPr>
        <p:spPr>
          <a:xfrm>
            <a:off x="4876800" y="1285875"/>
            <a:ext cx="6559550" cy="444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spcBef>
                <a:spcPts val="1000"/>
              </a:spcBef>
              <a:buClr>
                <a:srgbClr val="0D0D0D"/>
              </a:buClr>
            </a:pPr>
            <a:br>
              <a:rPr lang="en-US" sz="3200" dirty="0">
                <a:solidFill>
                  <a:srgbClr val="002060"/>
                </a:solidFill>
                <a:latin typeface="+mj-lt"/>
              </a:rPr>
            </a:br>
            <a:r>
              <a:rPr lang="en-US" sz="3200" b="0" i="0" u="none" strike="noStrike" cap="none" dirty="0">
                <a:solidFill>
                  <a:srgbClr val="002060"/>
                </a:solidFill>
                <a:latin typeface="+mj-lt"/>
                <a:ea typeface="Arial"/>
                <a:cs typeface="Arial"/>
                <a:sym typeface="Arial"/>
              </a:rPr>
              <a:t>Project Tit</a:t>
            </a:r>
            <a:r>
              <a:rPr lang="en-US" sz="3200" dirty="0">
                <a:solidFill>
                  <a:srgbClr val="002060"/>
                </a:solidFill>
                <a:latin typeface="+mj-lt"/>
                <a:cs typeface="Arial"/>
                <a:sym typeface="Arial"/>
              </a:rPr>
              <a:t>le</a:t>
            </a:r>
            <a:br>
              <a:rPr lang="en-US" sz="3200" dirty="0">
                <a:solidFill>
                  <a:srgbClr val="002060"/>
                </a:solidFill>
                <a:latin typeface="+mj-lt"/>
                <a:cs typeface="Arial"/>
                <a:sym typeface="Arial"/>
              </a:rPr>
            </a:br>
            <a:r>
              <a:rPr lang="en-US" sz="3200" dirty="0">
                <a:solidFill>
                  <a:srgbClr val="002060"/>
                </a:solidFill>
                <a:latin typeface="+mj-lt"/>
                <a:cs typeface="Arial"/>
                <a:sym typeface="Arial"/>
              </a:rPr>
              <a:t> </a:t>
            </a:r>
            <a:r>
              <a:rPr lang="en-US" sz="3200" dirty="0">
                <a:solidFill>
                  <a:srgbClr val="002060"/>
                </a:solidFill>
                <a:latin typeface="+mj-lt"/>
                <a:cs typeface="Arial"/>
              </a:rPr>
              <a:t>Sales analytics &amp; insights</a:t>
            </a:r>
            <a:br>
              <a:rPr lang="en-US" sz="3200" dirty="0">
                <a:solidFill>
                  <a:srgbClr val="002060"/>
                </a:solidFill>
                <a:latin typeface="+mj-lt"/>
                <a:cs typeface="Arial"/>
              </a:rPr>
            </a:br>
            <a:br>
              <a:rPr lang="en-US" sz="3200" dirty="0">
                <a:solidFill>
                  <a:srgbClr val="002060"/>
                </a:solidFill>
                <a:latin typeface="+mj-lt"/>
              </a:rPr>
            </a:br>
            <a:r>
              <a:rPr lang="en-US" sz="3200" b="0" i="0" u="none" strike="noStrike" cap="none" dirty="0">
                <a:solidFill>
                  <a:srgbClr val="002060"/>
                </a:solidFill>
                <a:latin typeface="+mj-lt"/>
                <a:ea typeface="Arial"/>
                <a:cs typeface="Arial"/>
                <a:sym typeface="Arial"/>
              </a:rPr>
              <a:t>Presenter's Name</a:t>
            </a:r>
            <a:br>
              <a:rPr lang="en-US" sz="3200" b="0" i="0" u="none" strike="noStrike" cap="none" dirty="0">
                <a:solidFill>
                  <a:srgbClr val="002060"/>
                </a:solidFill>
                <a:latin typeface="+mj-lt"/>
                <a:ea typeface="Arial"/>
                <a:cs typeface="Arial"/>
                <a:sym typeface="Arial"/>
              </a:rPr>
            </a:br>
            <a:r>
              <a:rPr lang="en-US" sz="3200" b="0" i="0" u="none" strike="noStrike" cap="none" dirty="0">
                <a:solidFill>
                  <a:srgbClr val="002060"/>
                </a:solidFill>
                <a:latin typeface="+mj-lt"/>
                <a:ea typeface="Arial"/>
                <a:cs typeface="Arial"/>
                <a:sym typeface="Arial"/>
              </a:rPr>
              <a:t>Peter Gamal</a:t>
            </a:r>
            <a:br>
              <a:rPr lang="en-US" sz="3200" b="0" i="0" u="none" strike="noStrike" cap="none" dirty="0">
                <a:solidFill>
                  <a:srgbClr val="002060"/>
                </a:solidFill>
                <a:latin typeface="+mj-lt"/>
                <a:ea typeface="Arial"/>
                <a:cs typeface="Arial"/>
                <a:sym typeface="Arial"/>
              </a:rPr>
            </a:br>
            <a:br>
              <a:rPr lang="en-US" sz="3200" dirty="0">
                <a:solidFill>
                  <a:srgbClr val="002060"/>
                </a:solidFill>
                <a:latin typeface="+mj-lt"/>
              </a:rPr>
            </a:br>
            <a:r>
              <a:rPr lang="en-US" sz="3200" b="0" i="0" u="none" strike="noStrike" cap="none" dirty="0">
                <a:solidFill>
                  <a:srgbClr val="002060"/>
                </a:solidFill>
                <a:latin typeface="+mj-lt"/>
                <a:ea typeface="Arial"/>
                <a:cs typeface="Arial"/>
                <a:sym typeface="Arial"/>
              </a:rPr>
              <a:t>Date</a:t>
            </a:r>
            <a:br>
              <a:rPr lang="en-US" sz="3200" b="0" i="0" u="none" strike="noStrike" cap="none" dirty="0">
                <a:solidFill>
                  <a:srgbClr val="002060"/>
                </a:solidFill>
                <a:latin typeface="+mj-lt"/>
                <a:ea typeface="Arial"/>
                <a:cs typeface="Arial"/>
                <a:sym typeface="Arial"/>
              </a:rPr>
            </a:br>
            <a:r>
              <a:rPr lang="en-US" sz="3200" b="0" i="0" u="none" strike="noStrike" cap="none" dirty="0">
                <a:solidFill>
                  <a:srgbClr val="002060"/>
                </a:solidFill>
                <a:latin typeface="+mj-lt"/>
                <a:ea typeface="Arial"/>
                <a:cs typeface="Arial"/>
                <a:sym typeface="Arial"/>
              </a:rPr>
              <a:t>11- May -2026</a:t>
            </a:r>
            <a:br>
              <a:rPr lang="en-US" sz="3200" dirty="0">
                <a:solidFill>
                  <a:srgbClr val="002060"/>
                </a:solidFill>
                <a:latin typeface="+mj-lt"/>
              </a:rPr>
            </a:br>
            <a:endParaRPr sz="3200" dirty="0">
              <a:solidFill>
                <a:srgbClr val="002060"/>
              </a:solidFill>
              <a:latin typeface="+mj-lt"/>
            </a:endParaRPr>
          </a:p>
        </p:txBody>
      </p:sp>
      <p:sp>
        <p:nvSpPr>
          <p:cNvPr id="171" name="Google Shape;17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6438D5BB-BE83-4B6B-98F4-845F78017E08}" type="datetime1">
              <a:rPr lang="en-US" smtClean="0"/>
              <a:t>12-May-26</a:t>
            </a:fld>
            <a:endParaRPr/>
          </a:p>
        </p:txBody>
      </p:sp>
      <p:sp>
        <p:nvSpPr>
          <p:cNvPr id="172" name="Google Shape;172;p7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2060"/>
                </a:solidFill>
              </a:rPr>
              <a:t>Sales analytics &amp; insights</a:t>
            </a:r>
            <a:endParaRPr dirty="0">
              <a:solidFill>
                <a:srgbClr val="002060"/>
              </a:solidFill>
            </a:endParaRPr>
          </a:p>
        </p:txBody>
      </p:sp>
      <p:sp>
        <p:nvSpPr>
          <p:cNvPr id="173" name="Google Shape;17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  <p:pic>
        <p:nvPicPr>
          <p:cNvPr id="174" name="Google Shape;174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7763" y="1677910"/>
            <a:ext cx="3913971" cy="314580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 cmpd="sng">
            <a:solidFill>
              <a:srgbClr val="336EA8"/>
            </a:solidFill>
            <a:prstDash val="solid"/>
            <a:miter lim="800000"/>
            <a:headEnd type="none" w="sm" len="sm"/>
            <a:tailEnd type="none" w="sm" len="sm"/>
          </a:ln>
          <a:effectLst>
            <a:reflection stA="28000" endPos="28000" dist="5000" dir="5400000" sy="-100000" algn="bl" rotWithShape="0"/>
          </a:effectLst>
        </p:spPr>
      </p:pic>
      <p:pic>
        <p:nvPicPr>
          <p:cNvPr id="175" name="Google Shape;175;p7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ADE68B-75F1-4314-BDB1-58EF3957A4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720" y="2235924"/>
            <a:ext cx="3650609" cy="18859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DC7AD-CCF1-4CDC-A48C-9EE1887DC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Project Idea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70549-9544-4D98-903A-FD26243565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Overview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</a:p>
          <a:p>
            <a:pPr marL="114300" indent="0">
              <a:buNone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This dataset was publicly released by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Olist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on Kaggle and contains real commercial data, covering 100,000 orders placed between September 2016 and October 2018 across multiple marketplaces in Brazil. </a:t>
            </a:r>
          </a:p>
          <a:p>
            <a:pPr marL="114300" indent="0">
              <a:buNone/>
            </a:pPr>
            <a:r>
              <a:rPr lang="en-US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The problem:</a:t>
            </a:r>
          </a:p>
          <a:p>
            <a:pPr marL="11430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Analyzing the sales data to figure out trends &amp; customers behaviors to optimize the sales.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1800" b="1" dirty="0">
                <a:latin typeface="Calibri" panose="020F0502020204030204" pitchFamily="34" charset="0"/>
                <a:cs typeface="Times New Roman" panose="02020603050405020304" pitchFamily="18" charset="0"/>
              </a:rPr>
              <a:t>The solution:</a:t>
            </a:r>
          </a:p>
          <a:p>
            <a:pPr marL="114300" indent="0"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have made a dashboard for fast decision making and a python notebook for any further detailed analysis required.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114300" indent="0">
              <a:buNone/>
            </a:pPr>
            <a:r>
              <a:rPr lang="en-US" sz="1800" b="1" dirty="0">
                <a:latin typeface="Calibri" panose="020F0502020204030204" pitchFamily="34" charset="0"/>
                <a:cs typeface="Arial" panose="020B0604020202020204" pitchFamily="34" charset="0"/>
              </a:rPr>
              <a:t>Unique value:</a:t>
            </a:r>
          </a:p>
          <a:p>
            <a:pPr marL="114300" indent="0">
              <a:buNone/>
            </a:pPr>
            <a:r>
              <a:rPr lang="en-US" sz="1800" dirty="0">
                <a:latin typeface="Calibri" panose="020F0502020204030204" pitchFamily="34" charset="0"/>
                <a:cs typeface="Arial" panose="020B0604020202020204" pitchFamily="34" charset="0"/>
              </a:rPr>
              <a:t>The project combines complex data processing in the background with rich insights, delivered through simple, user-friendly, and intuitive dashboards.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8C349-CFA3-46F6-8810-39AE0F1A87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31469C1-A209-46BF-BE5A-3F692C7DE5D1}" type="datetime1">
              <a:rPr lang="en-US" smtClean="0"/>
              <a:t>12-May-26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911B0-AFAD-4977-B9F5-7C9FED22217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Sales analytics &amp; insights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FF744-9EE4-4AC4-8E93-C4C86CE8799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839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332E8-6E0B-4F88-A415-F830CB53D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ym typeface="Arial"/>
              </a:rPr>
              <a:t>Project</a:t>
            </a:r>
            <a:r>
              <a:rPr lang="en-US" sz="4400" b="1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dirty="0">
                <a:sym typeface="Arial"/>
              </a:rPr>
              <a:t>Wireframe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134EC-C939-47B9-9B55-51914658C8A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31469C1-A209-46BF-BE5A-3F692C7DE5D1}" type="datetime1">
              <a:rPr lang="en-US" smtClean="0"/>
              <a:t>12-May-26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9C6A3-E614-4E5B-A0BD-348E0897D9D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Sales analytics &amp; insights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ACB57-FB75-4796-A3AF-4C0D51D4A3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8B7B64-398F-43DF-ADAE-3ED0CF337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493" y="1382154"/>
            <a:ext cx="4153777" cy="23169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A0DF1F7-94C5-4117-AD8B-78CF51BE25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1445014"/>
            <a:ext cx="4077278" cy="231337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5A3BEEB-A9CF-4DB5-A8A8-A8DB2F2485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037" y="3902047"/>
            <a:ext cx="4133234" cy="227569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C6065FF-40CA-4095-A195-8135732521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3899317"/>
            <a:ext cx="4077279" cy="2275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10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F5EC6-39AE-456D-A1B9-AC227BEF2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End users and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0BCE8C-209B-444E-B4A9-18F1FDB70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Our Primary user for the dashboard is the stakeholders.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31D7F-5291-423C-82A1-04B30519EF7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31469C1-A209-46BF-BE5A-3F692C7DE5D1}" type="datetime1">
              <a:rPr lang="en-US" smtClean="0"/>
              <a:t>12-May-26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0945A-F61C-4FF3-8C55-A8023D3646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Sales analytics &amp; insights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0C42C-5E8E-44B0-B7B5-6B708F891C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0C61541-0C85-49A2-9526-93A96500F1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806364"/>
              </p:ext>
            </p:extLst>
          </p:nvPr>
        </p:nvGraphicFramePr>
        <p:xfrm>
          <a:off x="1608406" y="2502537"/>
          <a:ext cx="8975188" cy="328866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91088">
                  <a:extLst>
                    <a:ext uri="{9D8B030D-6E8A-4147-A177-3AD203B41FA5}">
                      <a16:colId xmlns:a16="http://schemas.microsoft.com/office/drawing/2014/main" val="1265587735"/>
                    </a:ext>
                  </a:extLst>
                </a:gridCol>
                <a:gridCol w="2992050">
                  <a:extLst>
                    <a:ext uri="{9D8B030D-6E8A-4147-A177-3AD203B41FA5}">
                      <a16:colId xmlns:a16="http://schemas.microsoft.com/office/drawing/2014/main" val="2309894531"/>
                    </a:ext>
                  </a:extLst>
                </a:gridCol>
                <a:gridCol w="2992050">
                  <a:extLst>
                    <a:ext uri="{9D8B030D-6E8A-4147-A177-3AD203B41FA5}">
                      <a16:colId xmlns:a16="http://schemas.microsoft.com/office/drawing/2014/main" val="3275493274"/>
                    </a:ext>
                  </a:extLst>
                </a:gridCol>
              </a:tblGrid>
              <a:tr h="31136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Key feature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136" marR="2813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Recommended Action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136" marR="2813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Expected Outcome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136" marR="28136" marT="0" marB="0"/>
                </a:tc>
                <a:extLst>
                  <a:ext uri="{0D108BD9-81ED-4DB2-BD59-A6C34878D82A}">
                    <a16:rowId xmlns:a16="http://schemas.microsoft.com/office/drawing/2014/main" val="572050447"/>
                  </a:ext>
                </a:extLst>
              </a:tr>
              <a:tr h="7068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Increase revenue from dominant payment method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08" marR="3908" marT="3908" marB="3908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Increase partnerships with credit card providers 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136" marR="28136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Higher average order value and increased repeat purchases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136" marR="28136" marT="0" marB="0"/>
                </a:tc>
                <a:extLst>
                  <a:ext uri="{0D108BD9-81ED-4DB2-BD59-A6C34878D82A}">
                    <a16:rowId xmlns:a16="http://schemas.microsoft.com/office/drawing/2014/main" val="3009629329"/>
                  </a:ext>
                </a:extLst>
              </a:tr>
              <a:tr h="8650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Protect Top Sellers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136" marR="2813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Conduct exit interviews for 4-5 star sellers. Review commission structures 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136" marR="2813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Retention of the platform’s "Lifeblood" (Top 462 sellers).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136" marR="28136" marT="0" marB="0"/>
                </a:tc>
                <a:extLst>
                  <a:ext uri="{0D108BD9-81ED-4DB2-BD59-A6C34878D82A}">
                    <a16:rowId xmlns:a16="http://schemas.microsoft.com/office/drawing/2014/main" val="1570269471"/>
                  </a:ext>
                </a:extLst>
              </a:tr>
              <a:tr h="86501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Optimize Logistics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136" marR="2813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Partner with local warehouses in the Northeast region to reduce the late delivery rate.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136" marR="28136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>
                          <a:effectLst/>
                        </a:rPr>
                        <a:t>Increased customer LTV (Lifetime Value) and higher average review scores.</a:t>
                      </a: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28136" marR="28136" marT="0" marB="0"/>
                </a:tc>
                <a:extLst>
                  <a:ext uri="{0D108BD9-81ED-4DB2-BD59-A6C34878D82A}">
                    <a16:rowId xmlns:a16="http://schemas.microsoft.com/office/drawing/2014/main" val="2502813942"/>
                  </a:ext>
                </a:extLst>
              </a:tr>
              <a:tr h="31918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050" dirty="0">
                          <a:effectLst/>
                        </a:rPr>
                        <a:t>Reduce voucher cancellation rate</a:t>
                      </a:r>
                      <a:endParaRPr lang="en-US" sz="105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3908" marR="3908" marT="3908" marB="3908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effectLst/>
                        </a:rPr>
                        <a:t>Limit voucher usage to low-risk users/orders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1100" dirty="0"/>
                    </a:p>
                  </a:txBody>
                  <a:tcPr marL="28136" marR="28136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effectLst/>
                        </a:rPr>
                        <a:t>Lower cancellation rate, and improved order completion rate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US" sz="1100" dirty="0"/>
                    </a:p>
                  </a:txBody>
                  <a:tcPr marL="37514" marR="37514" marT="18757" marB="18757"/>
                </a:tc>
                <a:extLst>
                  <a:ext uri="{0D108BD9-81ED-4DB2-BD59-A6C34878D82A}">
                    <a16:rowId xmlns:a16="http://schemas.microsoft.com/office/drawing/2014/main" val="38497752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713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A9E2B-27D6-485D-AEDA-C409741FC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Data structure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936E4-2517-44AE-9EAC-75FD9151EBE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31469C1-A209-46BF-BE5A-3F692C7DE5D1}" type="datetime1">
              <a:rPr lang="en-US" smtClean="0"/>
              <a:t>12-May-26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58392-07CC-447A-896A-6156586EED1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Sales analytics &amp; insights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F27A7-69F7-4AF0-AC76-D3DB21DFF50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0FE6E1-59E2-40CC-977B-EE4B15B55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7491" y="1516617"/>
            <a:ext cx="10078857" cy="44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741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FD044-2411-4324-82AD-FB33EAC99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Programming languages &amp; Frameworks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CE6BB-04CA-4D99-B9C9-4B887370F4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en-US" b="1" dirty="0"/>
              <a:t>Programming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Python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SQL </a:t>
            </a:r>
          </a:p>
          <a:p>
            <a:pPr marL="114300" indent="0">
              <a:buNone/>
            </a:pPr>
            <a:r>
              <a:rPr lang="en-US" b="1" dirty="0"/>
              <a:t>Frameworks / 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pandas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seaborn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matplotlib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plotly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sklearn</a:t>
            </a:r>
            <a:r>
              <a:rPr lang="en-US" dirty="0"/>
              <a:t> </a:t>
            </a:r>
          </a:p>
          <a:p>
            <a:pPr marL="114300" indent="0">
              <a:buNone/>
            </a:pPr>
            <a:r>
              <a:rPr lang="en-US" b="1" dirty="0"/>
              <a:t>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Microsoft Power BI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Microsoft Excel </a:t>
            </a:r>
          </a:p>
          <a:p>
            <a:pPr marL="114300" indent="0">
              <a:buNone/>
            </a:pPr>
            <a:r>
              <a:rPr lang="en-US" b="1" dirty="0"/>
              <a:t>Supporting Technologies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datetime (Python standard library module for date and time handling)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0FEC5-3F88-4217-8788-93570C0DED1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31469C1-A209-46BF-BE5A-3F692C7DE5D1}" type="datetime1">
              <a:rPr lang="en-US" smtClean="0"/>
              <a:t>12-May-26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C0267-B122-47E9-84D1-B1220A13332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Sales analytics &amp; insights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A315C-4D27-4C18-9489-C55A0128BD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676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4A479-D8B7-496B-B66C-E8750AE78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Live application &amp; Test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309D5-BDDE-427C-8E90-CC01D5686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9069" y="1253331"/>
            <a:ext cx="10515600" cy="4351338"/>
          </a:xfrm>
        </p:spPr>
        <p:txBody>
          <a:bodyPr/>
          <a:lstStyle/>
          <a:p>
            <a:pPr marL="114300" indent="0" algn="ctr">
              <a:buNone/>
            </a:pPr>
            <a:r>
              <a:rPr lang="en-US" dirty="0" err="1">
                <a:hlinkClick r:id="rId4"/>
              </a:rPr>
              <a:t>Olist</a:t>
            </a:r>
            <a:r>
              <a:rPr lang="en-US" dirty="0">
                <a:hlinkClick r:id="rId4"/>
              </a:rPr>
              <a:t> dashboard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F76A1-EFE9-40D5-91B1-81B67C61FA6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31469C1-A209-46BF-BE5A-3F692C7DE5D1}" type="datetime1">
              <a:rPr lang="en-US" smtClean="0"/>
              <a:t>12-May-26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0927F-26A7-4E3B-B566-1BE38EF29E9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Sales analytics &amp; insights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F942CC-9AF5-4F62-9B5B-B25BFAA676D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7" name="bandicam 2026-05-12 15-24-21-872">
            <a:hlinkClick r:id="" action="ppaction://media"/>
            <a:extLst>
              <a:ext uri="{FF2B5EF4-FFF2-40B4-BE49-F238E27FC236}">
                <a16:creationId xmlns:a16="http://schemas.microsoft.com/office/drawing/2014/main" id="{1D8E05F4-636E-4EBD-9A78-0B7C0A9AAA1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16419" y="1847049"/>
            <a:ext cx="7359161" cy="3917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615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1267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lang="en-US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dirty="0"/>
              <a:t>Team data (Excel)</a:t>
            </a:r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/>
              <a:t>Project description file</a:t>
            </a:r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/>
              <a:t>Presentation file (PPT)</a:t>
            </a:r>
          </a:p>
          <a:p>
            <a:pPr marL="692150" indent="-514350">
              <a:spcBef>
                <a:spcPts val="0"/>
              </a:spcBef>
              <a:buSzPts val="2800"/>
              <a:buFont typeface="+mj-lt"/>
              <a:buAutoNum type="arabicPeriod"/>
            </a:pPr>
            <a:r>
              <a:rPr lang="en-US" dirty="0"/>
              <a:t>ZIP file containing raw data files (Source of data)</a:t>
            </a:r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dirty="0"/>
              <a:t>Power Bi Dashboard file (Live application link)</a:t>
            </a:r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dirty="0"/>
              <a:t>Project documentation file</a:t>
            </a:r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r>
              <a:rPr lang="en-US" dirty="0">
                <a:hlinkClick r:id="rId3"/>
              </a:rPr>
              <a:t>https://github.com/peterabosaif/Data-analysis-</a:t>
            </a:r>
            <a:endParaRPr dirty="0"/>
          </a:p>
        </p:txBody>
      </p:sp>
      <p:sp>
        <p:nvSpPr>
          <p:cNvPr id="215" name="Google Shape;21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769F619B-1EDF-4E7E-BC73-B62011DD9047}" type="datetime1">
              <a:rPr lang="en-US" smtClean="0"/>
              <a:t>12-May-26</a:t>
            </a:fld>
            <a:endParaRPr/>
          </a:p>
        </p:txBody>
      </p:sp>
      <p:sp>
        <p:nvSpPr>
          <p:cNvPr id="216" name="Google Shape;216;p11"/>
          <p:cNvSpPr txBox="1">
            <a:spLocks noGrp="1"/>
          </p:cNvSpPr>
          <p:nvPr>
            <p:ph type="ftr" idx="11"/>
          </p:nvPr>
        </p:nvSpPr>
        <p:spPr>
          <a:xfrm>
            <a:off x="3880338" y="6356350"/>
            <a:ext cx="427306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Sales analytics &amp; insights</a:t>
            </a:r>
            <a:endParaRPr/>
          </a:p>
        </p:txBody>
      </p:sp>
      <p:sp>
        <p:nvSpPr>
          <p:cNvPr id="217" name="Google Shape;21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18" name="Google Shape;218;p11" title="downloa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190825" y="6356350"/>
            <a:ext cx="903191" cy="3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54D34C9-348C-427C-A4EE-0826CF63A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sz="4400" i="0" u="none" strike="noStrike" cap="none" dirty="0">
                <a:solidFill>
                  <a:srgbClr val="0D0D0D"/>
                </a:solidFill>
                <a:latin typeface="Arial"/>
                <a:ea typeface="Arial"/>
                <a:cs typeface="Arial"/>
                <a:sym typeface="Arial"/>
              </a:rPr>
              <a:t>Deliverables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5B7DC-2118-4358-AF92-D7E193FC9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solidFill>
                  <a:srgbClr val="0D0D0D"/>
                </a:solidFill>
              </a:rPr>
              <a:t>Project Team &amp; Roles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1A97D-FAA3-4994-8AE1-7C368F047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Team Structure &amp; Role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CBDF4F-8140-47C0-94E1-0F1832BB80C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4234" y="2505075"/>
            <a:ext cx="5533341" cy="1847851"/>
          </a:xfrm>
        </p:spPr>
        <p:txBody>
          <a:bodyPr>
            <a:normAutofit lnSpcReduction="10000"/>
          </a:bodyPr>
          <a:lstStyle/>
          <a:p>
            <a:pPr lvl="1" indent="-457200">
              <a:lnSpc>
                <a:spcPct val="115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Team leader: Peter Gamal</a:t>
            </a:r>
          </a:p>
          <a:p>
            <a:pPr lvl="1" indent="-457200">
              <a:lnSpc>
                <a:spcPct val="115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Team member: Safa Hassan</a:t>
            </a:r>
          </a:p>
          <a:p>
            <a:pPr lvl="1" indent="-4572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Team member: Mohammed Hussein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3A0DA55-0916-40D1-8224-712697D1C2B3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Key responsibilities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19F257E-D215-4394-BD2A-0BBE739838AC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172200" y="2505075"/>
            <a:ext cx="5183188" cy="1847851"/>
          </a:xfrm>
        </p:spPr>
        <p:txBody>
          <a:bodyPr>
            <a:normAutofit/>
          </a:bodyPr>
          <a:lstStyle/>
          <a:p>
            <a:r>
              <a:rPr lang="en-US" sz="2400" dirty="0"/>
              <a:t>Operations and sales</a:t>
            </a:r>
          </a:p>
          <a:p>
            <a:r>
              <a:rPr lang="en-US" sz="2400" dirty="0"/>
              <a:t>Overview</a:t>
            </a:r>
          </a:p>
          <a:p>
            <a:r>
              <a:rPr lang="en-US" sz="2400" dirty="0"/>
              <a:t>Customers and feedback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69FC7-E8D1-46F1-A148-DE5FDFEE40C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31469C1-A209-46BF-BE5A-3F692C7DE5D1}" type="datetime1">
              <a:rPr lang="en-US" smtClean="0"/>
              <a:t>12-May-26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56E02-883E-4A38-9D14-6B21673E4F7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Sales analytics &amp; insights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8D6DE-CEC6-4006-A7C5-9DD5429A17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38A71EA-115A-40FC-A45D-1A28B465A6AC}"/>
              </a:ext>
            </a:extLst>
          </p:cNvPr>
          <p:cNvSpPr txBox="1">
            <a:spLocks/>
          </p:cNvSpPr>
          <p:nvPr/>
        </p:nvSpPr>
        <p:spPr>
          <a:xfrm>
            <a:off x="464233" y="4352926"/>
            <a:ext cx="10889567" cy="1847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 dirty="0"/>
              <a:t>Collaboration methods: we mainly used </a:t>
            </a:r>
            <a:r>
              <a:rPr lang="en-US" dirty="0" err="1"/>
              <a:t>whatsapp</a:t>
            </a:r>
            <a:r>
              <a:rPr lang="en-US" dirty="0"/>
              <a:t> for chatting, zoom meeting and </a:t>
            </a:r>
            <a:r>
              <a:rPr lang="en-US" dirty="0" err="1"/>
              <a:t>github</a:t>
            </a:r>
            <a:r>
              <a:rPr lang="en-US" dirty="0"/>
              <a:t> to upload and merge python and SQL codes</a:t>
            </a:r>
          </a:p>
        </p:txBody>
      </p:sp>
    </p:spTree>
    <p:extLst>
      <p:ext uri="{BB962C8B-B14F-4D97-AF65-F5344CB8AC3E}">
        <p14:creationId xmlns:p14="http://schemas.microsoft.com/office/powerpoint/2010/main" val="3184887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2" name="Picture 14" descr="Red and white cubes with quality assurance stock photo">
            <a:extLst>
              <a:ext uri="{FF2B5EF4-FFF2-40B4-BE49-F238E27FC236}">
                <a16:creationId xmlns:a16="http://schemas.microsoft.com/office/drawing/2014/main" id="{F6B7FA55-9D6B-45DF-BDCD-658FAD9F9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5633" y="2861787"/>
            <a:ext cx="4321723" cy="34573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526A44-104C-4DA4-A0B7-45A2A5B37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1CE82-17C1-4F6A-8C98-254B473F21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9069" y="1396122"/>
            <a:ext cx="10515600" cy="4351338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Contact information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8663F-DC13-4F54-B1B9-80104E6DDCA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31469C1-A209-46BF-BE5A-3F692C7DE5D1}" type="datetime1">
              <a:rPr lang="en-US" smtClean="0"/>
              <a:t>12-May-26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289D5-D4FF-4463-A1E9-75C55D90632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Sales analytics &amp; insights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D4DA2-029D-4265-8C80-574FBCEE7E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1E23E03-AC9B-4FF3-889D-DAFB9B2F1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28512"/>
              </p:ext>
            </p:extLst>
          </p:nvPr>
        </p:nvGraphicFramePr>
        <p:xfrm>
          <a:off x="1186082" y="2004500"/>
          <a:ext cx="9661573" cy="17145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20386">
                  <a:extLst>
                    <a:ext uri="{9D8B030D-6E8A-4147-A177-3AD203B41FA5}">
                      <a16:colId xmlns:a16="http://schemas.microsoft.com/office/drawing/2014/main" val="1499522472"/>
                    </a:ext>
                  </a:extLst>
                </a:gridCol>
                <a:gridCol w="3981148">
                  <a:extLst>
                    <a:ext uri="{9D8B030D-6E8A-4147-A177-3AD203B41FA5}">
                      <a16:colId xmlns:a16="http://schemas.microsoft.com/office/drawing/2014/main" val="669381273"/>
                    </a:ext>
                  </a:extLst>
                </a:gridCol>
                <a:gridCol w="2360039">
                  <a:extLst>
                    <a:ext uri="{9D8B030D-6E8A-4147-A177-3AD203B41FA5}">
                      <a16:colId xmlns:a16="http://schemas.microsoft.com/office/drawing/2014/main" val="1010408657"/>
                    </a:ext>
                  </a:extLst>
                </a:gridCol>
              </a:tblGrid>
              <a:tr h="32138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sng" strike="noStrike" dirty="0">
                          <a:effectLst/>
                        </a:rPr>
                        <a:t>Name</a:t>
                      </a:r>
                      <a:endParaRPr lang="en-US" sz="1800" b="0" i="0" u="sng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sng" strike="noStrike" dirty="0">
                          <a:effectLst/>
                        </a:rPr>
                        <a:t>Email</a:t>
                      </a:r>
                      <a:endParaRPr lang="en-US" sz="1800" b="0" i="0" u="sng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sng" strike="noStrike" dirty="0">
                          <a:effectLst/>
                        </a:rPr>
                        <a:t>Mobile</a:t>
                      </a:r>
                      <a:endParaRPr lang="en-US" sz="1800" b="0" i="0" u="sng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42009167"/>
                  </a:ext>
                </a:extLst>
              </a:tr>
              <a:tr h="46439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Peter Gamal </a:t>
                      </a:r>
                      <a:r>
                        <a:rPr lang="en-US" sz="1800" u="none" strike="noStrike" dirty="0" err="1">
                          <a:effectLst/>
                        </a:rPr>
                        <a:t>Ragheb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peterabosaif@gmail.com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01006275755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5448678"/>
                  </a:ext>
                </a:extLst>
              </a:tr>
              <a:tr h="46439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Safa Hassan </a:t>
                      </a:r>
                      <a:r>
                        <a:rPr lang="en-US" sz="1800" u="none" strike="noStrike" dirty="0" err="1">
                          <a:effectLst/>
                        </a:rPr>
                        <a:t>Sadek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safahassan1888@gmail.com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01096396125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5551143"/>
                  </a:ext>
                </a:extLst>
              </a:tr>
              <a:tr h="46439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Mohammed Hussein Hassan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mr.mh.mathematics@gmail.com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u="none" strike="noStrike" dirty="0">
                          <a:effectLst/>
                        </a:rPr>
                        <a:t>01554199325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92423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24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801</TotalTime>
  <Words>489</Words>
  <Application>Microsoft Office PowerPoint</Application>
  <PresentationFormat>Widescreen</PresentationFormat>
  <Paragraphs>109</Paragraphs>
  <Slides>10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 Project Title  Sales analytics &amp; insights  Presenter's Name Peter Gamal  Date 11- May -2026 </vt:lpstr>
      <vt:lpstr>Project Idea</vt:lpstr>
      <vt:lpstr>Project Wireframe</vt:lpstr>
      <vt:lpstr>End users and features</vt:lpstr>
      <vt:lpstr>Data structure</vt:lpstr>
      <vt:lpstr>Programming languages &amp; Frameworks</vt:lpstr>
      <vt:lpstr>Live application &amp; Test</vt:lpstr>
      <vt:lpstr>Deliverables</vt:lpstr>
      <vt:lpstr>Project Team &amp; Roles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SAMA</dc:creator>
  <cp:lastModifiedBy>Peter Abosaif</cp:lastModifiedBy>
  <cp:revision>37</cp:revision>
  <dcterms:created xsi:type="dcterms:W3CDTF">2024-03-14T10:03:54Z</dcterms:created>
  <dcterms:modified xsi:type="dcterms:W3CDTF">2026-05-12T12:40:49Z</dcterms:modified>
</cp:coreProperties>
</file>